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9B5B5"/>
          </a:solidFill>
          <a:ln w="12700">
            <a:solidFill>
              <a:srgbClr val="19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CAMS · 설비 예지보전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spcAft>
                <a:spcPts val="400"/>
              </a:spcAft>
            </a:pPr>
            <a:r>
              <a:rPr sz="4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비침습 부하신호 기반 예방보전 확산 전략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6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경화제 FGP 과부하 한 건에서 → 전사 자산 부하 모니터링으로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독립 경량 스택 · 설비·PLC·ERP 비침습 · 사후→예방 전환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6177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8006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>
                <a:solidFill>
                  <a:srgbClr val="F2585B"/>
                </a:solidFill>
                <a:latin typeface="맑은 고딕"/>
                <a:ea typeface="맑은 고딕"/>
                <a:cs typeface="맑은 고딕"/>
              </a:rPr>
              <a:t>61.3분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이번 라인 정지 시간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6177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48006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26초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전조→과부하 간격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6177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48006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쌓여 있던 추세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2026.06.25 · Json (홍정수)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01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‘경고만 보는’ 구조의 한계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이번 사건 — 클리어 L2 경화제 FGP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20240"/>
            <a:ext cx="4754880" cy="429768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42062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사건 경과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FGP 모터 과부하 알림 → 라인 정지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FGP ASS'Y 교체했으나 현상 동일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서보모터까지 추가 교체 후 정상 가동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FGP 스페어 재고 1개 → 추가 확보 필요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부품을 바꿔 복구했지만 ‘왜·언제부터 부하가 올랐는지’는 끝까지 알 수 없었다.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1920240"/>
            <a:ext cx="6080760" cy="1298448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32120" y="1920240"/>
            <a:ext cx="91440" cy="1298448"/>
          </a:xfrm>
          <a:prstGeom prst="roundRect">
            <a:avLst>
              <a:gd name="adj" fmla="val 0"/>
            </a:avLst>
          </a:prstGeom>
          <a:solidFill>
            <a:srgbClr val="F2585B"/>
          </a:solidFill>
          <a:ln w="12700">
            <a:solidFill>
              <a:srgbClr val="F25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03120"/>
            <a:ext cx="5577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알람은 정의상 사후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400"/>
              </a:spcAft>
            </a:pPr>
            <a:r>
              <a:rPr sz="12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임계를 넘겨 트립한 ‘다음’에 뜸. 예방이 아니라 사고 통보.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3364992"/>
            <a:ext cx="6080760" cy="1298448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32120" y="3364992"/>
            <a:ext cx="91440" cy="1298448"/>
          </a:xfrm>
          <a:prstGeom prst="roundRect">
            <a:avLst>
              <a:gd name="adj" fmla="val 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3547872"/>
            <a:ext cx="5577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추세 데이터가 없음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400"/>
              </a:spcAft>
            </a:pPr>
            <a:r>
              <a:rPr sz="12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비트 발생·해제 시각만 남고, 며칠에 걸쳐 오른 그림이 어디에도 없음.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4809744"/>
            <a:ext cx="6080760" cy="1298448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32120" y="4809744"/>
            <a:ext cx="91440" cy="1298448"/>
          </a:xfrm>
          <a:prstGeom prst="roundRect">
            <a:avLst>
              <a:gd name="adj" fmla="val 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4992624"/>
            <a:ext cx="5577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전조와 사고가 거의 동시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400"/>
              </a:spcAft>
            </a:pPr>
            <a:r>
              <a:rPr sz="12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토출이상이 과부하보다 단 26초 먼저 떴을 뿐 — 손쓸 시간이 없다.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02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PROPOSAL · 설비 담당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“어쩔 수 없는 급사”로 단정하기엔 — 판단할 데이터가 없다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6596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45720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우리가 가진 것 = 알람 비트 발생 시각뿐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400"/>
              </a:spcAft>
            </a:pPr>
            <a:r>
              <a:rPr sz="130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16:24:56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토출량 이상 (M7542)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16:25:22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FGP 모터 고부하 (M7632)  +26초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400"/>
              </a:spcAft>
            </a:pPr>
            <a:r>
              <a:rPr sz="1300" b="1">
                <a:solidFill>
                  <a:srgbClr val="F2585B"/>
                </a:solidFill>
                <a:latin typeface="맑은 고딕"/>
                <a:ea typeface="맑은 고딕"/>
                <a:cs typeface="맑은 고딕"/>
              </a:rPr>
              <a:t>16:25:25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FGP 돌지못함 (M7652)  +3초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이건 터진 30초의 스냅샷일 뿐, 그 전 며칠의 부하 추세가 아니다.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“이번에 처음 발생” = 반복 이력이 없다는 뜻이지, 전조가 없었다는 증거가 아니다 — 애초에 전조를 볼 계기판이 없었다.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80" y="1965960"/>
            <a:ext cx="5733288" cy="420624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그래서 핵심은 단순하다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400"/>
              </a:spcAft>
            </a:pPr>
            <a:r>
              <a:rPr sz="17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“급사였다”도 </a:t>
            </a:r>
            <a:r>
              <a:rPr sz="17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“예방 가능했다”도 </a:t>
            </a:r>
            <a:r>
              <a:rPr sz="170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지금은 둘 다 증명할 수 없다.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그리고 그 ‘모름’ 자체가 우리가 고쳐야 할 진짜 문제다.</a:t>
            </a:r>
          </a:p>
          <a:p>
            <a:pPr algn="l">
              <a:lnSpc>
                <a:spcPct val="130000"/>
              </a:lnSpc>
              <a:spcBef>
                <a:spcPts val="1800"/>
              </a:spcBef>
              <a:spcAft>
                <a:spcPts val="400"/>
              </a:spcAft>
            </a:pPr>
            <a:r>
              <a:rPr sz="13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→ 추궁이 아니라 절차의 문제. 다음엔 알 수 있게, 지금부터 기록한다.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03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FIRST ACTION · 사후 첫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지금 당장 할 두 가지 — 다른 결정 안 기다리고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CT 정격·워드 유무·원인 판정… 전부 나중에 답이 나온다. 기록만은 오늘 시작할 수 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28600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286000"/>
            <a:ext cx="5394960" cy="109728"/>
          </a:xfrm>
          <a:prstGeom prst="roundRect">
            <a:avLst>
              <a:gd name="adj" fmla="val 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560320"/>
            <a:ext cx="47548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①  </a:t>
            </a:r>
            <a:r>
              <a:rPr sz="16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신품을 ‘정상 베이스라인’으로 지금 기록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막 신품 교체 = 건강한 정상치를 박아둘 최적 타이밍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하루 지날 때마다 golden 데이터는 사라진다 (시계가 돈다)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단순 평균 ✕ → 장시간 정지 후 첫 가동(cold start) 전류 곡선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조건 태그 동반: 레시피·외기온·경화제 배치·플러싱 경과시간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394960" cy="109728"/>
          </a:xfrm>
          <a:prstGeom prst="roundRect">
            <a:avLst>
              <a:gd name="adj" fmla="val 0"/>
            </a:avLst>
          </a:prstGeom>
          <a:solidFill>
            <a:srgbClr val="19B5B5"/>
          </a:solidFill>
          <a:ln w="12700">
            <a:solidFill>
              <a:srgbClr val="19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2560320"/>
            <a:ext cx="47548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②  </a:t>
            </a:r>
            <a:r>
              <a:rPr sz="16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부검 프로토콜 — ‘또 모름’으로 끝나지 않게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고장 시 직전 신호 버퍼 보존(프리즈)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교체 부품 분해·보존 → 굳음 vs 모터 열화 판정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알람 캐스케이드 타임스탬프 기록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무엇을 바꿔서 잡혔는지 기록 → 원인 귀속이 절차가 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베이스라인 = 숫자가 아니라 ‘같은 운전조건의 조건부 서명(conditioned signature)’ + 비교 프로토콜.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04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ASK · 협조 요청 (설비 담당)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부담은 적다 — 비침습, 그리고 확인 3가지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6596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4023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왜 부담이 적은가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설비·PLC·서보 보증 안 건드림. 회선 안 끊음.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전원선에 CT만 물리거나, PLC에 부하 워드가 이미 오면 읽기만 (HW 0).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작은 독립 PC + 경량 DB — 기존 시스템에 영향 0.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Odoo·MES에 묶지 않는 별도 시스템.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1965960"/>
            <a:ext cx="6263640" cy="420624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2240280"/>
            <a:ext cx="5669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확인 / 부탁 (택1~3)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697480"/>
            <a:ext cx="5669280" cy="1005840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0" y="2697480"/>
            <a:ext cx="91440" cy="1005840"/>
          </a:xfrm>
          <a:prstGeom prst="roundRect">
            <a:avLst>
              <a:gd name="adj" fmla="val 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843784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3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FGP 서보모터 명판 전류(A) 확인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CT 정격 확정용. 어려우면 가동 중 클램프미터 1회 측정 협조.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3840480"/>
            <a:ext cx="5669280" cy="1005840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3840480"/>
            <a:ext cx="91440" cy="1005840"/>
          </a:xfrm>
          <a:prstGeom prst="roundRect">
            <a:avLst>
              <a:gd name="adj" fmla="val 0"/>
            </a:avLst>
          </a:prstGeom>
          <a:solidFill>
            <a:srgbClr val="19B5B5"/>
          </a:solidFill>
          <a:ln w="12700">
            <a:solidFill>
              <a:srgbClr val="19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986784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3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FGP 부하가 PLC에 워드로 들어오는지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들어오면 CT 불필요 — 읽기만. 두림야스카와 CC-Link 맵 문의.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4983480"/>
            <a:ext cx="5669280" cy="1005840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0" y="4983480"/>
            <a:ext cx="91440" cy="1005840"/>
          </a:xfrm>
          <a:prstGeom prst="roundRect">
            <a:avLst>
              <a:gd name="adj" fmla="val 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5129784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3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교체한 고착 펌프 분해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내부 경화제 굳음 흔적 확인 → 원인 ‘굳음 vs 모터 열화’ 미결 해소.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05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이 접근법이 통하는 조건 + 표준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05740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① 점진적으로 열화한다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갑자기 죽지 않고 부하·신호가 서서히 변함 (베어링 마모·펌프 고착·마그넷 약화).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74519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205740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② 그 변화가 신호에 드러난다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이미 흐르는 신호에 나타남 — 전류·토크·압력·유량·온도.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8328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194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신호 취득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MELSEC 패시브 태핑 / CT — 설비 비침습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7947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338328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3566160"/>
            <a:ext cx="2194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시계열 적재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자체 경량 시계열 저장소 (독립 스택)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37947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38328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3566160"/>
            <a:ext cx="2194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베이스라인 드리프트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신품 정상치 대비 기울기 추적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37947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1" y="338328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3" y="3566160"/>
            <a:ext cx="2194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소프트 경고선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하드 임계 아래에서 며칠 전 경고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3036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탐지기는 둘이다  </a:t>
            </a:r>
            <a:r>
              <a:rPr sz="130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드리프트(점진) — 베이스라인 우상향 추적   ·   드롭아웃(급변·단선) — 0/스텝 감지(히터밴드 등).  </a:t>
            </a:r>
            <a:r>
              <a:rPr sz="13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같은 파이프라인에서 둘 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06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PRIORITISATION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2축 우선순위 — 라인정지 파급 × 신호 접근성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‘파급 크고 + 워드 이미 있음’이 최우선. 점수화해 단일 병목부터.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116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E161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1순위 · 즉시 착수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20116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E161D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2순위 · 센서 투자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20116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E161D"/>
          </a:solidFill>
          <a:ln w="12700">
            <a:solidFill>
              <a:srgbClr val="7C8B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후순위 / 추세 부적합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0848" y="20116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E161D"/>
          </a:solidFill>
          <a:ln w="12700">
            <a:solidFill>
              <a:srgbClr val="465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제외 · 다른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설비 후보</a:t>
            </a:r>
            <a:r>
              <a:rPr sz="1100" b="1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            정지 파급      신호 접근      추세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⭐ 경화제 FGP (진행중)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108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중         </a:t>
            </a: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   B / A     </a:t>
            </a:r>
            <a:r>
              <a:rPr sz="125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   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6557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⭐⭐ 컴프레서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46557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최상        </a:t>
            </a: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   B         </a:t>
            </a:r>
            <a:r>
              <a:rPr sz="125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   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22191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사출 유압펌프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22191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상         </a:t>
            </a: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   A / B     </a:t>
            </a:r>
            <a:r>
              <a:rPr sz="125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   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17880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컨베어 구동모터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1788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상(라인 전체)  </a:t>
            </a: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   B         </a:t>
            </a:r>
            <a:r>
              <a:rPr sz="125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   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53542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사출 형체·사출 서보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5354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상         </a:t>
            </a: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   A / C     </a:t>
            </a:r>
            <a:r>
              <a:rPr sz="125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   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92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벨컵 회전 베어링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8920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중(품질)     </a:t>
            </a: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   D 신설      </a:t>
            </a:r>
            <a:r>
              <a:rPr sz="125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   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24865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부스 급배기 팬 / 도료펌프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2486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중         </a:t>
            </a: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   B       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60527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냉각수 펌프·칠러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6052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상         </a:t>
            </a: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   B / C     </a:t>
            </a:r>
            <a:r>
              <a:rPr sz="125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   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61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히터밴드·노즐히터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9618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중         </a:t>
            </a:r>
            <a:r>
              <a:rPr sz="12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   B         </a:t>
            </a:r>
            <a:r>
              <a:rPr sz="1250" b="1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   드롭아웃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07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COATING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확장 영역 ① — 도장 라인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현재 영역의 직접 확장. 같은 신호·같은 방법으로 옆 설비까지.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2148840"/>
          <a:ext cx="1097280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468880"/>
                <a:gridCol w="1554480"/>
                <a:gridCol w="1371600"/>
                <a:gridCol w="1097280"/>
                <a:gridCol w="173736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 / 부품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신호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정지 파급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신호 접근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추세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모드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⭐ 경화제 FGP 서보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서보 토크 / 전류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 / A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4D39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◎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타라인·베이스 도료펌프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서보 토크 / 출력전류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 / B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4D39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◎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컬러체인저·믹싱 밸브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압력 / 유량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 / D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컨베어 구동모터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출력전류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2585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상(라인 전체)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4D39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◎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둘 다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부스 급배기 팬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전류 / 차압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 + D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벨컵 회전 베어링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진동 / 전류 리플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중(품질)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 신설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5A62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△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08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INJECTION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확장 영역 ② — 사출 라인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도장보다 센서가 풍부해 이 방법론에 더 잘 맞는다.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2148840"/>
          <a:ext cx="1097280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468880"/>
                <a:gridCol w="1554480"/>
                <a:gridCol w="1371600"/>
                <a:gridCol w="1097280"/>
                <a:gridCol w="173736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 / 부품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신호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정지 파급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신호 접근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추세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모드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⭐ 유압펌프 모터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전류 / 유압 / 오일온도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2585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 / B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4D39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◎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형체·사출 서보(전동)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서보 토크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2585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 / C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4D39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◎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유압유 상태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오일온도 / 압력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금형 온도조절기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 추종 성능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중(불량 직결)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히터밴드·노즐히터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전류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✕→○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드롭아웃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09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SHARED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확장 영역 ③ — 공통 유틸리티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한 대가 죽으면 라인 전체 파급 — 가중치 최상위.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2148840"/>
          <a:ext cx="1097280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468880"/>
                <a:gridCol w="1554480"/>
                <a:gridCol w="1371600"/>
                <a:gridCol w="1097280"/>
                <a:gridCol w="173736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 / 부품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신호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정지 파급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신호 접근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추세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6555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모드</a:t>
                      </a:r>
                    </a:p>
                  </a:txBody>
                  <a:tcPr marL="91440" marR="54864" marT="36576" marB="36576" anchor="ctr">
                    <a:solidFill>
                      <a:srgbClr val="0E161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⭐⭐ 컴프레서(공압)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부하전류 / 토출압 / 흡입온도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2585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최상(전 설비)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4D39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◎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냉각수 펌프·칠러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전류 / 유량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2585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상(사출·도장 공통)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 / C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4D39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◎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수배전·주요 모터 전반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전류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2585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중~상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7C8B9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8EFF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둘 다</a:t>
                      </a:r>
                    </a:p>
                  </a:txBody>
                  <a:tcPr marL="91440" marR="54864" marT="36576" marB="36576" anchor="ctr">
                    <a:solidFill>
                      <a:srgbClr val="101A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10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이 방법이 ‘안 통하는’ 곳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‘없는 게 문제’를 전 설비로 일반화하면 또 다른 과잉 대응이 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28600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286000"/>
            <a:ext cx="3474720" cy="109728"/>
          </a:xfrm>
          <a:prstGeom prst="roundRect">
            <a:avLst>
              <a:gd name="adj" fmla="val 0"/>
            </a:avLst>
          </a:prstGeom>
          <a:solidFill>
            <a:srgbClr val="F2585B"/>
          </a:solidFill>
          <a:ln w="12700">
            <a:solidFill>
              <a:srgbClr val="F25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60604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갑자기 죽는 부품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400"/>
              </a:spcAft>
            </a:pPr>
            <a:r>
              <a:rPr sz="12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센서 단선·전자밸브·릴레이. 전조 없이 즉시 고장 — 추세가 무의미.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  <a:spcAft>
                <a:spcPts val="400"/>
              </a:spcAft>
            </a:pPr>
            <a:r>
              <a:rPr sz="1250" b="1">
                <a:solidFill>
                  <a:srgbClr val="F2585B"/>
                </a:solidFill>
                <a:latin typeface="맑은 고딕"/>
                <a:ea typeface="맑은 고딕"/>
                <a:cs typeface="맑은 고딕"/>
              </a:rPr>
              <a:t>→ 이중화 / 즉시감지(드롭아웃)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228600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88536" y="2286000"/>
            <a:ext cx="3474720" cy="109728"/>
          </a:xfrm>
          <a:prstGeom prst="roundRect">
            <a:avLst>
              <a:gd name="adj" fmla="val 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60604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신호 안 나오는 순수 기계부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400"/>
              </a:spcAft>
            </a:pPr>
            <a:r>
              <a:rPr sz="12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전류·토크로 안 드러나는 마모. 베어링을 전류로만 보면 한계.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  <a:spcAft>
                <a:spcPts val="400"/>
              </a:spcAft>
            </a:pPr>
            <a:r>
              <a:rPr sz="125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→ 진동·초음파 전용 센서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228600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10144" y="2286000"/>
            <a:ext cx="3474720" cy="109728"/>
          </a:xfrm>
          <a:prstGeom prst="roundRect">
            <a:avLst>
              <a:gd name="adj" fmla="val 0"/>
            </a:avLst>
          </a:prstGeom>
          <a:solidFill>
            <a:srgbClr val="7C8B97"/>
          </a:solidFill>
          <a:ln w="12700">
            <a:solidFill>
              <a:srgbClr val="7C8B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60604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마모가 너무 빠르거나 느린 것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400"/>
              </a:spcAft>
            </a:pPr>
            <a:r>
              <a:rPr sz="12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추세 그릴 시간 없거나, 수년째 무변화로 감시 가치 낮음.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  <a:spcAft>
                <a:spcPts val="400"/>
              </a:spcAft>
            </a:pP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→ 정기교체 / 모니터링 제외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11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DATA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신호를 어디서 빼고, 어디에 쌓나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병목은 ‘기록 능력’이 아니라 ‘소스 접근’. 먼저 워드 유무 확인 → 없으면 그때 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10312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331720"/>
            <a:ext cx="2926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260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PLC에 워드로 이미 들어옴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400"/>
              </a:spcAft>
            </a:pPr>
            <a:r>
              <a:rPr sz="11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MELSEC D-레지스터 패시브 태핑으로 주기 적재. 추가 HW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" y="43434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E161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최선 · 코드만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210312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331720"/>
            <a:ext cx="2926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260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B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알람 비트만 옴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400"/>
              </a:spcAft>
            </a:pPr>
            <a:r>
              <a:rPr sz="11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두림야스카와에 워드 출력 추가 요청, 또는 전원선에 CT 1개.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81144" y="43434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E161D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우회 · 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210312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331720"/>
            <a:ext cx="2926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26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C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서보앰프에서 직접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400"/>
              </a:spcAft>
            </a:pPr>
            <a:r>
              <a:rPr sz="11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야스카와 Σ 앰프면 토크·전류 모니터값을 통신으로 폴링.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43434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E161D"/>
          </a:solidFill>
          <a:ln w="12700">
            <a:solidFill>
              <a:srgbClr val="19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옵션 · 앰프통신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3036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셋 다 최종 저장소는 하나 — </a:t>
            </a:r>
            <a:r>
              <a:rPr sz="13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자체 경량 시계열 저장소(독립 스택). </a:t>
            </a:r>
            <a:r>
              <a:rPr sz="13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Odoo·MES에 묶지 않는다 → 도입 마찰 0, 설비·ERP 비침습 유지.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12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CLOSE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루프 닫기 — 독립 시스템이 ‘경고 → 계획정비’까지 자체 완결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외부 의존 0. 알림만 쏘는 SaaS와 다른 지점.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57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9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2057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224028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057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9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2928" y="2240280"/>
            <a:ext cx="2057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2896" y="224028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8928" y="2057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2240280"/>
            <a:ext cx="2057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드리프트 감지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8896" y="224028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2057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2240280"/>
            <a:ext cx="2057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F5A623"/>
                </a:solidFill>
                <a:latin typeface="맑은 고딕"/>
                <a:ea typeface="맑은 고딕"/>
                <a:cs typeface="맑은 고딕"/>
              </a:rPr>
              <a:t>소프트 경고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4896" y="224028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10928" y="2057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0928" y="2240280"/>
            <a:ext cx="2057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34D399"/>
                </a:solidFill>
                <a:latin typeface="맑은 고딕"/>
                <a:ea typeface="맑은 고딕"/>
                <a:cs typeface="맑은 고딕"/>
              </a:rPr>
              <a:t>계획정비 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337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해자 — 3개 결합이어야 ‘또 하나의 예지보전 SaaS’를 벗어난다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9476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02336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① 비침습 레거시 신호 수집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400"/>
              </a:spcAft>
            </a:pPr>
            <a:r>
              <a:rPr sz="11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SMB는 설비 못 건드림 — 가장 큰 벽을 우회. 회선 안 끊고 엿듣기 / 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9476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2856" y="402336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② CAMS 실제 레퍼런스 현장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400"/>
              </a:spcAft>
            </a:pPr>
            <a:r>
              <a:rPr sz="11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정량 증거(리드타임·예방 사례)를 먼저 확보할 무대.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379476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402336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③ 설비·ERP 안 건드리는 독립 스택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400"/>
              </a:spcAft>
            </a:pPr>
            <a:r>
              <a:rPr sz="11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Odoo·MES 결합 강제 ✕ → 도입장벽 최저. 신호→행동을 자체 완결.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>
                <a:solidFill>
                  <a:srgbClr val="46555F"/>
                </a:solidFill>
                <a:latin typeface="맑은 고딕"/>
                <a:ea typeface="맑은 고딕"/>
                <a:cs typeface="맑은 고딕"/>
              </a:rPr>
              <a:t>정량 증거는 ‘다운타임 X% 감소’(반사실)보다 ‘소프트선이 하드 알람보다 며칠 먼저 떴다 — 리드타임 로그’로 먼저 쌓는다.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13  </a:t>
            </a:r>
            <a:r>
              <a:rPr sz="1250" b="1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FGP 한 건을 ‘재사용 가능한 템플릿’으로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11680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5798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01   </a:t>
            </a:r>
            <a:r>
              <a:rPr sz="13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지금 기록 시작    </a:t>
            </a:r>
            <a:r>
              <a:rPr sz="13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신품 FGP 정상치 + cold-start 지문을 오늘부터 적재 (베이스라인).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971800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1810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02   </a:t>
            </a:r>
            <a:r>
              <a:rPr sz="13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표준 파이프라인 완주    </a:t>
            </a:r>
            <a:r>
              <a:rPr sz="13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신호→적재→드리프트→소프트경고를 FGP에서 한 번 제대로.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7822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03   </a:t>
            </a:r>
            <a:r>
              <a:rPr sz="13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컴프레서 병행 1호    </a:t>
            </a:r>
            <a:r>
              <a:rPr sz="13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FGP=계기 케이스, 컴프레서=매트릭스 최적·점진열화 증명 케이스.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892040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0E161D"/>
          </a:solidFill>
          <a:ln w="12700">
            <a:solidFill>
              <a:srgbClr val="1E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3834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04   </a:t>
            </a:r>
            <a:r>
              <a:rPr sz="1350" b="1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‘워드 이미 있음’부터 확산    </a:t>
            </a:r>
            <a:r>
              <a:rPr sz="1350" b="0">
                <a:solidFill>
                  <a:srgbClr val="7C8B97"/>
                </a:solidFill>
                <a:latin typeface="맑은 고딕"/>
                <a:ea typeface="맑은 고딕"/>
                <a:cs typeface="맑은 고딕"/>
              </a:rPr>
              <a:t>사출 유압펌프·컨베어 — HW 0으로 빠른 성과. 소스 하나 더 꽂기.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94360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01A22"/>
          </a:solidFill>
          <a:ln w="12700">
            <a:solidFill>
              <a:srgbClr val="19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605332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>
                <a:solidFill>
                  <a:srgbClr val="19B5B5"/>
                </a:solidFill>
                <a:latin typeface="맑은 고딕"/>
                <a:ea typeface="맑은 고딕"/>
                <a:cs typeface="맑은 고딕"/>
              </a:rPr>
              <a:t>핵심  </a:t>
            </a:r>
            <a:r>
              <a:rPr sz="1350" b="0">
                <a:solidFill>
                  <a:srgbClr val="E8EFF4"/>
                </a:solidFill>
                <a:latin typeface="맑은 고딕"/>
                <a:ea typeface="맑은 고딕"/>
                <a:cs typeface="맑은 고딕"/>
              </a:rPr>
              <a:t>‘주기적 확인’의 주체를 사람 → 시스템으로 옮긴다. 사람이 토크를 들여다봐야 하면 아직 인프라가 안 된 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